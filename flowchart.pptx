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6B6C2E-4172-CFA5-5AEC-A3F4F704E9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FD32B47-9A24-F556-41FF-68D82085158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1B034D-0512-E34F-31EC-4896182DF8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846C9A-3B73-4072-A1B3-7C15C8E1070C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CB4890-3D35-2AF8-FE01-9E9D2BCFBC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DB89BD-546C-4B93-29FE-CCA84D499F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CF2265-610B-4893-B2D0-4B98B5B5DB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26222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D23C07-BCBD-51EC-F390-E658B3A5A1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60B491-1E73-B503-EECE-F78B4F9789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8D4499-137B-56CF-5D2A-902879298F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846C9A-3B73-4072-A1B3-7C15C8E1070C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E61319-FFE9-3BAE-65B2-0C321223E7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4BA5BA-AD70-3C1D-9EF9-26FE3AFF4D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CF2265-610B-4893-B2D0-4B98B5B5DB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83182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3ECB6D-15D2-31D3-6DAF-A523CB24FE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876220-F803-6573-B4E4-5AD5980496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1D49EF-59CF-34FD-B5C9-B29FC54B9A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846C9A-3B73-4072-A1B3-7C15C8E1070C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CBCE1F-0E39-0C8E-4369-C1EED3A8E3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411D52-C7AB-E9EF-B722-428E8C2283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CF2265-610B-4893-B2D0-4B98B5B5DB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65551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D715F6-5DA4-2BF0-E195-7BB0F5A13E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422046-2234-94B7-8933-295C0AD0F07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790A516-1277-CF9E-EF0D-41FF6B8F22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EE7C34-107F-1AC6-EBA9-DDCDE9A0A0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846C9A-3B73-4072-A1B3-7C15C8E1070C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71E66DD-3856-81AD-1265-F0BEB2E9DD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E27310-2A5D-AFEC-9AB6-80B4F0EC2F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CF2265-610B-4893-B2D0-4B98B5B5DB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99634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082DA9-7430-47D0-D9FC-7A6C72996C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803A43-B75C-B624-9604-5E5773C670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379BF72-1618-64DF-F4A8-2253CDBDA6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31D0821-94A1-3F02-38C6-5D494524A84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BF02E6F-8B4E-65C9-73A2-A53272B81F2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BC1F707-32D0-F571-0023-E163856781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846C9A-3B73-4072-A1B3-7C15C8E1070C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E7231D9-C6F4-315B-73CA-4CE5C9EC31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E6751C-E091-CB10-1E84-0C10C623FA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CF2265-610B-4893-B2D0-4B98B5B5DB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25681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A53CCA-8997-3F0B-D81B-B09520816D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23871C-5280-774F-5FC2-6F6F7370A8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846C9A-3B73-4072-A1B3-7C15C8E1070C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ADF0A7A-A6F3-6AF5-1D9F-EDC87314E3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57EC7E7-A91D-FAFA-423E-F2C6346F8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CF2265-610B-4893-B2D0-4B98B5B5DB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03279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56A83DE-BDF9-3BDD-0694-CFFFE30A79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846C9A-3B73-4072-A1B3-7C15C8E1070C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4B6C9DC-4FA8-C657-6063-A995F03B70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8B759A-6185-370E-4940-BD7E379E2E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CF2265-610B-4893-B2D0-4B98B5B5DB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9084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5E14D6-A216-8E0F-E2FA-9933D4B592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7124AC-015C-3247-DCE1-1E4F3AACFC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7C573F2-5AC7-A90B-2AE8-6AF67795AF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DF46F75-3A6C-8263-D81A-D25F006FF0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846C9A-3B73-4072-A1B3-7C15C8E1070C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07F880-2DE9-B820-6EBB-A041D68423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3D813D-0D6D-72B2-5147-80730AB5EF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CF2265-610B-4893-B2D0-4B98B5B5DB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36932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DD4C1-C9CE-9120-E8AB-DEC6D2ECF6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797D432-FD63-614D-5576-A73551D2143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2C17B9-EF17-09CB-1380-7B83EE5A3F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37F3CF6-5B98-4458-1EF7-23C429A119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846C9A-3B73-4072-A1B3-7C15C8E1070C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992CAF-F9BD-4756-BD20-6A96D95134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140D5CA-BF90-911D-45CB-A95CB97A66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CF2265-610B-4893-B2D0-4B98B5B5DB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21370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9E8AC5-0672-D045-AA98-36A10CFE7C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4229E5D-5524-25E8-CA72-DEEBDEBD6A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6DA6AC-EB3D-3B48-4DEC-07BBC2E5D4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846C9A-3B73-4072-A1B3-7C15C8E1070C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747FA2-10D4-B8BB-03A6-D0CB43D41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5DB0D4-D4E9-402D-71AE-CF58BF39C4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CF2265-610B-4893-B2D0-4B98B5B5DB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74882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27EC1CF-BDF7-C19B-6F74-C810B3E0FFD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8EC7A29-353D-E1EE-1495-7323BD96D4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D2DD98-43B7-257B-5A7C-23EC6DE110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846C9A-3B73-4072-A1B3-7C15C8E1070C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054EFA-E48B-D6FA-D7BF-D0AA9A45D9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723B62-8556-3B2D-EEC5-0EDF15D458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CF2265-610B-4893-B2D0-4B98B5B5DB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0766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36AFC7F-F172-FC5F-93C3-89E1D1A461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F97191-049E-81B8-3F5A-33A14FF70D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27E116-0268-6812-3FA6-A26F28C1F55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A846C9A-3B73-4072-A1B3-7C15C8E1070C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FEAE9F-48AA-B2CA-CA93-9678EA15DED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E3C2FF-53FA-85CF-DA39-181327CA1C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DCF2265-610B-4893-B2D0-4B98B5B5DB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67157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Rectangle: Rounded Corners 91">
            <a:extLst>
              <a:ext uri="{FF2B5EF4-FFF2-40B4-BE49-F238E27FC236}">
                <a16:creationId xmlns:a16="http://schemas.microsoft.com/office/drawing/2014/main" id="{ED44DAAA-0B55-A940-1CF2-C3B727E7A0E0}"/>
              </a:ext>
            </a:extLst>
          </p:cNvPr>
          <p:cNvSpPr/>
          <p:nvPr/>
        </p:nvSpPr>
        <p:spPr>
          <a:xfrm>
            <a:off x="1996198" y="2387011"/>
            <a:ext cx="2550695" cy="274369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b="1" dirty="0"/>
              <a:t>Self-Supervised Training</a:t>
            </a:r>
          </a:p>
          <a:p>
            <a:pPr algn="ctr"/>
            <a:endParaRPr lang="en-US" sz="1400" b="1" dirty="0"/>
          </a:p>
          <a:p>
            <a:pPr algn="ctr"/>
            <a:endParaRPr lang="en-US" b="1" dirty="0"/>
          </a:p>
          <a:p>
            <a:pPr algn="ctr"/>
            <a:endParaRPr lang="en-US" b="1" dirty="0"/>
          </a:p>
          <a:p>
            <a:pPr algn="ctr"/>
            <a:endParaRPr lang="en-US" b="1" dirty="0"/>
          </a:p>
          <a:p>
            <a:pPr algn="ctr"/>
            <a:endParaRPr lang="en-US" b="1" dirty="0"/>
          </a:p>
          <a:p>
            <a:pPr algn="ctr"/>
            <a:endParaRPr lang="en-US" b="1" dirty="0"/>
          </a:p>
          <a:p>
            <a:pPr algn="ctr"/>
            <a:endParaRPr lang="en-US" b="1" dirty="0"/>
          </a:p>
          <a:p>
            <a:pPr algn="ctr"/>
            <a:endParaRPr lang="en-US" b="1" dirty="0"/>
          </a:p>
          <a:p>
            <a:pPr algn="ctr"/>
            <a:endParaRPr lang="en-US" b="1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71299E-E6C7-097F-1DDC-4E5B49ACA873}"/>
              </a:ext>
            </a:extLst>
          </p:cNvPr>
          <p:cNvSpPr/>
          <p:nvPr/>
        </p:nvSpPr>
        <p:spPr>
          <a:xfrm>
            <a:off x="182880" y="1109853"/>
            <a:ext cx="1426464" cy="7184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b="1" dirty="0"/>
              <a:t>Input </a:t>
            </a:r>
          </a:p>
          <a:p>
            <a:pPr algn="ctr"/>
            <a:r>
              <a:rPr lang="en-US" sz="1100" dirty="0"/>
              <a:t>5D CycIF Volume     V (T, C, Z, Y, X)     Parameters: r, R, </a:t>
            </a:r>
            <a:r>
              <a:rPr lang="el-GR" sz="1100" dirty="0"/>
              <a:t>γ, τ </a:t>
            </a:r>
            <a:endParaRPr lang="en-US" sz="1100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F8EBA6E7-7F6D-9693-01B2-20451B985C0C}"/>
              </a:ext>
            </a:extLst>
          </p:cNvPr>
          <p:cNvCxnSpPr>
            <a:cxnSpLocks/>
            <a:stCxn id="4" idx="3"/>
            <a:endCxn id="7" idx="1"/>
          </p:cNvCxnSpPr>
          <p:nvPr/>
        </p:nvCxnSpPr>
        <p:spPr>
          <a:xfrm>
            <a:off x="1609344" y="1469068"/>
            <a:ext cx="59436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42BA620E-636C-D9AD-20B0-C6EF444E251D}"/>
              </a:ext>
            </a:extLst>
          </p:cNvPr>
          <p:cNvSpPr/>
          <p:nvPr/>
        </p:nvSpPr>
        <p:spPr>
          <a:xfrm>
            <a:off x="2203704" y="1109853"/>
            <a:ext cx="1600200" cy="7184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b="1" dirty="0"/>
              <a:t>Node Construction</a:t>
            </a:r>
          </a:p>
          <a:p>
            <a:pPr algn="ctr"/>
            <a:r>
              <a:rPr lang="en-US" sz="1100" dirty="0"/>
              <a:t>Partition V into 3D supervoxels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8EE7798-9206-27AC-5586-B68DFC18AFF3}"/>
              </a:ext>
            </a:extLst>
          </p:cNvPr>
          <p:cNvSpPr/>
          <p:nvPr/>
        </p:nvSpPr>
        <p:spPr>
          <a:xfrm>
            <a:off x="4992624" y="1109853"/>
            <a:ext cx="1600200" cy="72467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b="1" dirty="0"/>
              <a:t>Category Embedding</a:t>
            </a:r>
          </a:p>
          <a:p>
            <a:pPr algn="ctr"/>
            <a:r>
              <a:rPr lang="en-US" sz="1100" dirty="0"/>
              <a:t>Group biomarkers into categories </a:t>
            </a:r>
            <a:r>
              <a:rPr lang="en-US" sz="1100" dirty="0" err="1"/>
              <a:t>C_k</a:t>
            </a:r>
            <a:endParaRPr lang="en-US" sz="1100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786E7706-0108-4E8A-FDA9-9B79643D7868}"/>
              </a:ext>
            </a:extLst>
          </p:cNvPr>
          <p:cNvCxnSpPr>
            <a:cxnSpLocks/>
            <a:stCxn id="7" idx="3"/>
            <a:endCxn id="11" idx="1"/>
          </p:cNvCxnSpPr>
          <p:nvPr/>
        </p:nvCxnSpPr>
        <p:spPr>
          <a:xfrm>
            <a:off x="3803904" y="1469068"/>
            <a:ext cx="1188720" cy="312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9E922AFE-335A-F020-6C46-40A9A3EB5A82}"/>
              </a:ext>
            </a:extLst>
          </p:cNvPr>
          <p:cNvSpPr txBox="1"/>
          <p:nvPr/>
        </p:nvSpPr>
        <p:spPr>
          <a:xfrm>
            <a:off x="3886390" y="1263740"/>
            <a:ext cx="74752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Node </a:t>
            </a:r>
            <a:r>
              <a:rPr lang="en-US" sz="1200" dirty="0" err="1"/>
              <a:t>i</a:t>
            </a:r>
            <a:endParaRPr lang="en-US" sz="12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84C40F3-76A2-C86A-4D6D-40D3D6063C0D}"/>
              </a:ext>
            </a:extLst>
          </p:cNvPr>
          <p:cNvSpPr txBox="1"/>
          <p:nvPr/>
        </p:nvSpPr>
        <p:spPr>
          <a:xfrm>
            <a:off x="3837432" y="1475232"/>
            <a:ext cx="112166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centroid </a:t>
            </a:r>
            <a:r>
              <a:rPr lang="en-US" sz="1100" dirty="0" err="1"/>
              <a:t>X_i</a:t>
            </a:r>
            <a:endParaRPr lang="en-US" sz="11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99BC0B9-7878-9A71-1F09-8DC7F8D2F6C3}"/>
              </a:ext>
            </a:extLst>
          </p:cNvPr>
          <p:cNvSpPr txBox="1"/>
          <p:nvPr/>
        </p:nvSpPr>
        <p:spPr>
          <a:xfrm>
            <a:off x="3837432" y="1656759"/>
            <a:ext cx="112166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features </a:t>
            </a:r>
            <a:r>
              <a:rPr lang="en-US" sz="1100" dirty="0" err="1"/>
              <a:t>F_i</a:t>
            </a:r>
            <a:r>
              <a:rPr lang="en-US" sz="1100" dirty="0"/>
              <a:t> 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99F9712-FD63-16BB-824F-FB08F077E41A}"/>
              </a:ext>
            </a:extLst>
          </p:cNvPr>
          <p:cNvSpPr/>
          <p:nvPr/>
        </p:nvSpPr>
        <p:spPr>
          <a:xfrm>
            <a:off x="7781544" y="1109853"/>
            <a:ext cx="1664208" cy="72467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b="1" dirty="0"/>
              <a:t>Graph Construction</a:t>
            </a:r>
          </a:p>
          <a:p>
            <a:pPr algn="ctr"/>
            <a:r>
              <a:rPr lang="en-US" sz="1100" dirty="0"/>
              <a:t> Nodes = supervoxels.</a:t>
            </a:r>
          </a:p>
          <a:p>
            <a:pPr algn="ctr"/>
            <a:r>
              <a:rPr lang="en-US" sz="1100" dirty="0"/>
              <a:t>Edge (</a:t>
            </a:r>
            <a:r>
              <a:rPr lang="en-US" sz="1100" dirty="0" err="1"/>
              <a:t>i,j</a:t>
            </a:r>
            <a:r>
              <a:rPr lang="en-US" sz="1100" dirty="0"/>
              <a:t>) if ||</a:t>
            </a:r>
            <a:r>
              <a:rPr lang="en-US" sz="1100" dirty="0" err="1"/>
              <a:t>X_i</a:t>
            </a:r>
            <a:r>
              <a:rPr lang="en-US" sz="1100" dirty="0"/>
              <a:t> − </a:t>
            </a:r>
            <a:r>
              <a:rPr lang="en-US" sz="1100" dirty="0" err="1"/>
              <a:t>X_j</a:t>
            </a:r>
            <a:r>
              <a:rPr lang="en-US" sz="1100" dirty="0"/>
              <a:t>|| ≤ r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5109058-FF86-151F-BC32-957A4AB83277}"/>
              </a:ext>
            </a:extLst>
          </p:cNvPr>
          <p:cNvSpPr txBox="1"/>
          <p:nvPr/>
        </p:nvSpPr>
        <p:spPr>
          <a:xfrm>
            <a:off x="6626352" y="1263741"/>
            <a:ext cx="11887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Pool channels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866611A3-8677-401A-8702-44878A799AD3}"/>
              </a:ext>
            </a:extLst>
          </p:cNvPr>
          <p:cNvCxnSpPr>
            <a:cxnSpLocks/>
          </p:cNvCxnSpPr>
          <p:nvPr/>
        </p:nvCxnSpPr>
        <p:spPr>
          <a:xfrm>
            <a:off x="6592824" y="1520952"/>
            <a:ext cx="118872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0D9B11F7-5A15-EAAB-40A8-83469E430E4B}"/>
              </a:ext>
            </a:extLst>
          </p:cNvPr>
          <p:cNvSpPr txBox="1"/>
          <p:nvPr/>
        </p:nvSpPr>
        <p:spPr>
          <a:xfrm>
            <a:off x="6718935" y="1561354"/>
            <a:ext cx="100355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 </a:t>
            </a:r>
            <a:r>
              <a:rPr lang="en-US" sz="1100" dirty="0" err="1"/>
              <a:t>F_i</a:t>
            </a:r>
            <a:r>
              <a:rPr lang="en-US" sz="1100" dirty="0"/>
              <a:t> = {</a:t>
            </a:r>
            <a:r>
              <a:rPr lang="en-US" sz="1100" dirty="0" err="1"/>
              <a:t>F_i</a:t>
            </a:r>
            <a:r>
              <a:rPr lang="en-US" sz="1100" dirty="0"/>
              <a:t>(k)}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8808D2F-346B-4E2C-D1AA-71B602C03DCC}"/>
              </a:ext>
            </a:extLst>
          </p:cNvPr>
          <p:cNvSpPr txBox="1"/>
          <p:nvPr/>
        </p:nvSpPr>
        <p:spPr>
          <a:xfrm>
            <a:off x="9486519" y="1238016"/>
            <a:ext cx="80048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Nodes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6FD4E48B-3658-F132-1673-6112152551AE}"/>
              </a:ext>
            </a:extLst>
          </p:cNvPr>
          <p:cNvCxnSpPr>
            <a:cxnSpLocks/>
          </p:cNvCxnSpPr>
          <p:nvPr/>
        </p:nvCxnSpPr>
        <p:spPr>
          <a:xfrm flipV="1">
            <a:off x="9452991" y="1530096"/>
            <a:ext cx="898017" cy="53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D8E58414-BD9E-5EDD-4E57-9A6E90A43A0D}"/>
              </a:ext>
            </a:extLst>
          </p:cNvPr>
          <p:cNvSpPr txBox="1"/>
          <p:nvPr/>
        </p:nvSpPr>
        <p:spPr>
          <a:xfrm>
            <a:off x="9486519" y="1557528"/>
            <a:ext cx="63474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Edges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A854363-9805-3726-4624-95CA972FCA5C}"/>
              </a:ext>
            </a:extLst>
          </p:cNvPr>
          <p:cNvSpPr/>
          <p:nvPr/>
        </p:nvSpPr>
        <p:spPr>
          <a:xfrm>
            <a:off x="10344912" y="1109853"/>
            <a:ext cx="1664208" cy="72467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b="1" dirty="0"/>
              <a:t>GAT Forward</a:t>
            </a:r>
          </a:p>
          <a:p>
            <a:pPr algn="ctr"/>
            <a:r>
              <a:rPr lang="en-US" sz="1100" dirty="0"/>
              <a:t> Compute node embeddings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CB1B0F9C-225D-6C14-D281-2204223F381C}"/>
              </a:ext>
            </a:extLst>
          </p:cNvPr>
          <p:cNvSpPr/>
          <p:nvPr/>
        </p:nvSpPr>
        <p:spPr>
          <a:xfrm>
            <a:off x="182880" y="2981325"/>
            <a:ext cx="1426464" cy="8953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b="1" dirty="0"/>
              <a:t>Saliency Estimation </a:t>
            </a:r>
          </a:p>
          <a:p>
            <a:pPr algn="ctr"/>
            <a:r>
              <a:rPr lang="pl-PL" sz="1100" dirty="0"/>
              <a:t>s_i(k) = σ(w_kᵀ Z_i)</a:t>
            </a:r>
            <a:endParaRPr lang="en-US" sz="1100" dirty="0"/>
          </a:p>
        </p:txBody>
      </p:sp>
      <p:cxnSp>
        <p:nvCxnSpPr>
          <p:cNvPr id="66" name="Connector: Elbow 65">
            <a:extLst>
              <a:ext uri="{FF2B5EF4-FFF2-40B4-BE49-F238E27FC236}">
                <a16:creationId xmlns:a16="http://schemas.microsoft.com/office/drawing/2014/main" id="{C7C76476-53FB-F16B-F120-C77D767192F1}"/>
              </a:ext>
            </a:extLst>
          </p:cNvPr>
          <p:cNvCxnSpPr>
            <a:cxnSpLocks/>
            <a:stCxn id="37" idx="2"/>
            <a:endCxn id="62" idx="0"/>
          </p:cNvCxnSpPr>
          <p:nvPr/>
        </p:nvCxnSpPr>
        <p:spPr>
          <a:xfrm rot="5400000">
            <a:off x="5463165" y="-2732526"/>
            <a:ext cx="1146798" cy="10280904"/>
          </a:xfrm>
          <a:prstGeom prst="bentConnector3">
            <a:avLst>
              <a:gd name="adj1" fmla="val 42026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F06DB7F5-E6CB-6179-5849-BE3833847C54}"/>
              </a:ext>
            </a:extLst>
          </p:cNvPr>
          <p:cNvSpPr txBox="1"/>
          <p:nvPr/>
        </p:nvSpPr>
        <p:spPr>
          <a:xfrm>
            <a:off x="896112" y="2064402"/>
            <a:ext cx="14935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 err="1"/>
              <a:t>Z_i</a:t>
            </a:r>
            <a:r>
              <a:rPr lang="en-US" sz="1200" dirty="0"/>
              <a:t> = GAT(</a:t>
            </a:r>
            <a:r>
              <a:rPr lang="en-US" sz="1200" dirty="0" err="1"/>
              <a:t>F_i</a:t>
            </a:r>
            <a:r>
              <a:rPr lang="en-US" sz="1200" dirty="0"/>
              <a:t>, E) 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9CC57157-270A-4793-6725-CC9FA51CDC2F}"/>
              </a:ext>
            </a:extLst>
          </p:cNvPr>
          <p:cNvSpPr/>
          <p:nvPr/>
        </p:nvSpPr>
        <p:spPr>
          <a:xfrm>
            <a:off x="2485974" y="2805377"/>
            <a:ext cx="1965960" cy="54690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b="1" dirty="0"/>
              <a:t>Graph Augmentation</a:t>
            </a:r>
          </a:p>
          <a:p>
            <a:pPr algn="ctr"/>
            <a:r>
              <a:rPr lang="pl-PL" sz="1100" dirty="0"/>
              <a:t>Mask nodes/channels</a:t>
            </a:r>
            <a:endParaRPr lang="en-US" sz="1100" dirty="0"/>
          </a:p>
          <a:p>
            <a:pPr algn="ctr"/>
            <a:r>
              <a:rPr lang="en-US" sz="1100" dirty="0"/>
              <a:t>Drop edges</a:t>
            </a: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A75C79FE-2582-1658-2CFA-29433A94F05A}"/>
              </a:ext>
            </a:extLst>
          </p:cNvPr>
          <p:cNvSpPr/>
          <p:nvPr/>
        </p:nvSpPr>
        <p:spPr>
          <a:xfrm>
            <a:off x="2485974" y="3611920"/>
            <a:ext cx="1965960" cy="54690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b="1" dirty="0"/>
              <a:t>Self-Supervised Loss </a:t>
            </a:r>
            <a:r>
              <a:rPr lang="pl-PL" sz="1100" dirty="0"/>
              <a:t>L_contrast</a:t>
            </a:r>
            <a:r>
              <a:rPr lang="en-US" sz="1100" dirty="0"/>
              <a:t>+</a:t>
            </a:r>
            <a:r>
              <a:rPr lang="en-US" sz="1100" dirty="0" err="1"/>
              <a:t>L_mask</a:t>
            </a:r>
            <a:r>
              <a:rPr lang="en-US" sz="1100" dirty="0"/>
              <a:t> + </a:t>
            </a:r>
            <a:r>
              <a:rPr lang="en-US" sz="1100" dirty="0" err="1"/>
              <a:t>L_dist</a:t>
            </a:r>
            <a:r>
              <a:rPr lang="en-US" sz="1100" dirty="0"/>
              <a:t> 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56528126-D06E-DCA0-8DB5-092BE7677A9C}"/>
              </a:ext>
            </a:extLst>
          </p:cNvPr>
          <p:cNvSpPr/>
          <p:nvPr/>
        </p:nvSpPr>
        <p:spPr>
          <a:xfrm>
            <a:off x="2485974" y="4418463"/>
            <a:ext cx="1965960" cy="54690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b="1" dirty="0"/>
              <a:t>Backpropagation</a:t>
            </a:r>
          </a:p>
          <a:p>
            <a:pPr algn="ctr"/>
            <a:r>
              <a:rPr lang="el-GR" sz="1100" dirty="0"/>
              <a:t>θ ← θ − η ∇θ</a:t>
            </a:r>
            <a:endParaRPr lang="en-US" sz="1100" dirty="0"/>
          </a:p>
        </p:txBody>
      </p: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FE429611-EAD5-81B2-55FA-E331E40EB9DD}"/>
              </a:ext>
            </a:extLst>
          </p:cNvPr>
          <p:cNvCxnSpPr>
            <a:cxnSpLocks/>
            <a:stCxn id="80" idx="1"/>
            <a:endCxn id="78" idx="1"/>
          </p:cNvCxnSpPr>
          <p:nvPr/>
        </p:nvCxnSpPr>
        <p:spPr>
          <a:xfrm rot="10800000">
            <a:off x="2485974" y="3078830"/>
            <a:ext cx="12700" cy="1613086"/>
          </a:xfrm>
          <a:prstGeom prst="bentConnector3">
            <a:avLst>
              <a:gd name="adj1" fmla="val 180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42F158A9-6D47-3E14-E95D-648CAD1DDDAE}"/>
              </a:ext>
            </a:extLst>
          </p:cNvPr>
          <p:cNvSpPr txBox="1"/>
          <p:nvPr/>
        </p:nvSpPr>
        <p:spPr>
          <a:xfrm rot="16200000">
            <a:off x="1131728" y="3717003"/>
            <a:ext cx="197385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Repeat until converged</a:t>
            </a:r>
          </a:p>
        </p:txBody>
      </p: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C2B77F99-1718-55F5-1C43-9C28BC61AD79}"/>
              </a:ext>
            </a:extLst>
          </p:cNvPr>
          <p:cNvCxnSpPr>
            <a:cxnSpLocks/>
            <a:stCxn id="78" idx="2"/>
            <a:endCxn id="79" idx="0"/>
          </p:cNvCxnSpPr>
          <p:nvPr/>
        </p:nvCxnSpPr>
        <p:spPr>
          <a:xfrm>
            <a:off x="3468954" y="3352283"/>
            <a:ext cx="0" cy="2596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42E26493-81D4-DFC5-85E6-5BE38114825C}"/>
              </a:ext>
            </a:extLst>
          </p:cNvPr>
          <p:cNvCxnSpPr>
            <a:cxnSpLocks/>
          </p:cNvCxnSpPr>
          <p:nvPr/>
        </p:nvCxnSpPr>
        <p:spPr>
          <a:xfrm>
            <a:off x="3470478" y="4158826"/>
            <a:ext cx="0" cy="2596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2B77E17E-0ECB-4ECC-8EAA-A74763D16ADD}"/>
              </a:ext>
            </a:extLst>
          </p:cNvPr>
          <p:cNvCxnSpPr>
            <a:cxnSpLocks/>
            <a:stCxn id="62" idx="3"/>
          </p:cNvCxnSpPr>
          <p:nvPr/>
        </p:nvCxnSpPr>
        <p:spPr>
          <a:xfrm>
            <a:off x="1609344" y="3429000"/>
            <a:ext cx="38214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BFE92D25-3C09-F94A-FFDA-E5415406A3A2}"/>
              </a:ext>
            </a:extLst>
          </p:cNvPr>
          <p:cNvSpPr txBox="1"/>
          <p:nvPr/>
        </p:nvSpPr>
        <p:spPr>
          <a:xfrm>
            <a:off x="1596200" y="3061409"/>
            <a:ext cx="50901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sz="1400" dirty="0"/>
              <a:t>s_i</a:t>
            </a:r>
            <a:endParaRPr lang="en-US" sz="1400" dirty="0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07EE2BBB-78DD-9DC2-7321-CBA07A79D769}"/>
              </a:ext>
            </a:extLst>
          </p:cNvPr>
          <p:cNvSpPr/>
          <p:nvPr/>
        </p:nvSpPr>
        <p:spPr>
          <a:xfrm>
            <a:off x="5294605" y="2805377"/>
            <a:ext cx="1184376" cy="161862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b="1" dirty="0"/>
              <a:t>Inference</a:t>
            </a:r>
          </a:p>
          <a:p>
            <a:pPr algn="ctr"/>
            <a:r>
              <a:rPr lang="en-US" sz="1400" b="1" dirty="0"/>
              <a:t>GAT Model </a:t>
            </a:r>
          </a:p>
          <a:p>
            <a:pPr algn="ctr"/>
            <a:r>
              <a:rPr lang="en-US" sz="1100" dirty="0"/>
              <a:t> Run trained GAT on original graph G:  </a:t>
            </a:r>
          </a:p>
          <a:p>
            <a:pPr algn="ctr"/>
            <a:r>
              <a:rPr lang="en-US" sz="1100" dirty="0"/>
              <a:t>   Z = GAT(G) </a:t>
            </a:r>
            <a:r>
              <a:rPr lang="en-US" sz="1100" dirty="0" err="1"/>
              <a:t>s_i</a:t>
            </a:r>
            <a:r>
              <a:rPr lang="en-US" sz="1100" dirty="0"/>
              <a:t>(k)=σ(</a:t>
            </a:r>
            <a:r>
              <a:rPr lang="en-US" sz="1100" dirty="0" err="1"/>
              <a:t>w_k</a:t>
            </a:r>
            <a:r>
              <a:rPr lang="en-US" sz="1100" dirty="0"/>
              <a:t>ᵀ </a:t>
            </a:r>
            <a:r>
              <a:rPr lang="en-US" sz="1100" dirty="0" err="1"/>
              <a:t>Z_i</a:t>
            </a:r>
            <a:r>
              <a:rPr lang="en-US" sz="1100" dirty="0"/>
              <a:t>)</a:t>
            </a:r>
            <a:r>
              <a:rPr lang="en-US" sz="1100" dirty="0" err="1"/>
              <a:t>i</a:t>
            </a:r>
            <a:endParaRPr lang="en-US" sz="1100" dirty="0"/>
          </a:p>
        </p:txBody>
      </p: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B02F8585-DEC4-9E52-DDE9-952ECE610D25}"/>
              </a:ext>
            </a:extLst>
          </p:cNvPr>
          <p:cNvCxnSpPr>
            <a:cxnSpLocks/>
          </p:cNvCxnSpPr>
          <p:nvPr/>
        </p:nvCxnSpPr>
        <p:spPr>
          <a:xfrm>
            <a:off x="6478981" y="3553897"/>
            <a:ext cx="55403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182EF70F-1673-9009-9236-3B031CC0C5AA}"/>
              </a:ext>
            </a:extLst>
          </p:cNvPr>
          <p:cNvSpPr txBox="1"/>
          <p:nvPr/>
        </p:nvSpPr>
        <p:spPr>
          <a:xfrm>
            <a:off x="6512891" y="3246120"/>
            <a:ext cx="50901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S</a:t>
            </a:r>
            <a:r>
              <a:rPr lang="pl-PL" sz="1400" dirty="0"/>
              <a:t>_i</a:t>
            </a:r>
            <a:endParaRPr lang="en-US" sz="1400" dirty="0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BBF5E1C9-40AE-29F2-D823-C9E50C2102F6}"/>
              </a:ext>
            </a:extLst>
          </p:cNvPr>
          <p:cNvSpPr txBox="1"/>
          <p:nvPr/>
        </p:nvSpPr>
        <p:spPr>
          <a:xfrm>
            <a:off x="6513652" y="3594347"/>
            <a:ext cx="50901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Z</a:t>
            </a:r>
            <a:r>
              <a:rPr lang="pl-PL" sz="1400" dirty="0"/>
              <a:t>_i</a:t>
            </a:r>
            <a:endParaRPr lang="en-US" sz="1400" dirty="0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321E6AD8-2C7B-FAEA-2BB2-9869AFDF69CA}"/>
              </a:ext>
            </a:extLst>
          </p:cNvPr>
          <p:cNvSpPr txBox="1"/>
          <p:nvPr/>
        </p:nvSpPr>
        <p:spPr>
          <a:xfrm>
            <a:off x="4477140" y="3203134"/>
            <a:ext cx="85210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Updated Weights</a:t>
            </a:r>
          </a:p>
        </p:txBody>
      </p:sp>
      <p:sp>
        <p:nvSpPr>
          <p:cNvPr id="116" name="Rectangle: Rounded Corners 115">
            <a:extLst>
              <a:ext uri="{FF2B5EF4-FFF2-40B4-BE49-F238E27FC236}">
                <a16:creationId xmlns:a16="http://schemas.microsoft.com/office/drawing/2014/main" id="{EE054295-AF51-C4ED-1B9F-D1D4DC5A96D3}"/>
              </a:ext>
            </a:extLst>
          </p:cNvPr>
          <p:cNvSpPr/>
          <p:nvPr/>
        </p:nvSpPr>
        <p:spPr>
          <a:xfrm>
            <a:off x="7033011" y="2387011"/>
            <a:ext cx="2950278" cy="274369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b="1" dirty="0"/>
              <a:t>Roi Scoring &amp; Extraction</a:t>
            </a:r>
          </a:p>
          <a:p>
            <a:pPr algn="ctr"/>
            <a:endParaRPr lang="en-US" b="1" dirty="0"/>
          </a:p>
          <a:p>
            <a:pPr algn="ctr"/>
            <a:endParaRPr lang="en-US" b="1" dirty="0"/>
          </a:p>
          <a:p>
            <a:pPr algn="ctr"/>
            <a:endParaRPr lang="en-US" b="1" dirty="0"/>
          </a:p>
          <a:p>
            <a:pPr algn="ctr"/>
            <a:endParaRPr lang="en-US" b="1" dirty="0"/>
          </a:p>
          <a:p>
            <a:pPr algn="ctr"/>
            <a:endParaRPr lang="en-US" b="1" dirty="0"/>
          </a:p>
          <a:p>
            <a:pPr algn="ctr"/>
            <a:endParaRPr lang="en-US" b="1" dirty="0"/>
          </a:p>
          <a:p>
            <a:pPr algn="ctr"/>
            <a:endParaRPr lang="en-US" b="1" dirty="0"/>
          </a:p>
          <a:p>
            <a:pPr algn="ctr"/>
            <a:endParaRPr lang="en-US" b="1" dirty="0"/>
          </a:p>
          <a:p>
            <a:pPr algn="ctr"/>
            <a:endParaRPr lang="en-US" b="1" dirty="0"/>
          </a:p>
        </p:txBody>
      </p:sp>
      <p:sp>
        <p:nvSpPr>
          <p:cNvPr id="117" name="Rectangle 116">
            <a:extLst>
              <a:ext uri="{FF2B5EF4-FFF2-40B4-BE49-F238E27FC236}">
                <a16:creationId xmlns:a16="http://schemas.microsoft.com/office/drawing/2014/main" id="{87FB60D3-6698-4718-F1FF-46CD6677B2D5}"/>
              </a:ext>
            </a:extLst>
          </p:cNvPr>
          <p:cNvSpPr/>
          <p:nvPr/>
        </p:nvSpPr>
        <p:spPr>
          <a:xfrm>
            <a:off x="7780821" y="2707872"/>
            <a:ext cx="1965960" cy="54690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b="1" dirty="0"/>
              <a:t>Interaction scoring</a:t>
            </a:r>
          </a:p>
          <a:p>
            <a:pPr algn="ctr"/>
            <a:r>
              <a:rPr lang="pl-PL" sz="1100" dirty="0"/>
              <a:t>RadScore_R(k)(i)</a:t>
            </a:r>
            <a:endParaRPr lang="en-US" sz="1100" dirty="0"/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007A06F6-2B3B-C3E5-DC3F-B9E05B3939D4}"/>
              </a:ext>
            </a:extLst>
          </p:cNvPr>
          <p:cNvSpPr/>
          <p:nvPr/>
        </p:nvSpPr>
        <p:spPr>
          <a:xfrm>
            <a:off x="7780821" y="3514414"/>
            <a:ext cx="1965960" cy="64121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b="1" dirty="0"/>
              <a:t>ROI detection</a:t>
            </a:r>
          </a:p>
          <a:p>
            <a:pPr algn="ctr"/>
            <a:r>
              <a:rPr lang="en-US" sz="1400" b="1" dirty="0"/>
              <a:t> </a:t>
            </a:r>
            <a:r>
              <a:rPr lang="en-US" sz="1100" dirty="0"/>
              <a:t>threshold top p% </a:t>
            </a:r>
          </a:p>
          <a:p>
            <a:pPr algn="ctr"/>
            <a:r>
              <a:rPr lang="en-US" sz="1100" dirty="0"/>
              <a:t>3D connected components</a:t>
            </a:r>
          </a:p>
        </p:txBody>
      </p:sp>
      <p:sp>
        <p:nvSpPr>
          <p:cNvPr id="119" name="Rectangle 118">
            <a:extLst>
              <a:ext uri="{FF2B5EF4-FFF2-40B4-BE49-F238E27FC236}">
                <a16:creationId xmlns:a16="http://schemas.microsoft.com/office/drawing/2014/main" id="{FD7F60FA-124C-33AD-2589-ECC028F98A8A}"/>
              </a:ext>
            </a:extLst>
          </p:cNvPr>
          <p:cNvSpPr/>
          <p:nvPr/>
        </p:nvSpPr>
        <p:spPr>
          <a:xfrm>
            <a:off x="7780821" y="4320957"/>
            <a:ext cx="1965960" cy="68289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b="1" dirty="0"/>
              <a:t>ROI summarization</a:t>
            </a:r>
          </a:p>
          <a:p>
            <a:pPr algn="ctr"/>
            <a:r>
              <a:rPr lang="en-US" sz="1100" dirty="0"/>
              <a:t>- centroid, size                           </a:t>
            </a:r>
          </a:p>
          <a:p>
            <a:pPr algn="ctr"/>
            <a:r>
              <a:rPr lang="en-US" sz="1100" dirty="0"/>
              <a:t>- mean saliency                             - signature </a:t>
            </a:r>
            <a:r>
              <a:rPr lang="el-GR" sz="1100" dirty="0"/>
              <a:t>μ(</a:t>
            </a:r>
            <a:r>
              <a:rPr lang="en-US" sz="1100" dirty="0"/>
              <a:t>k)</a:t>
            </a:r>
          </a:p>
        </p:txBody>
      </p:sp>
      <p:cxnSp>
        <p:nvCxnSpPr>
          <p:cNvPr id="122" name="Straight Arrow Connector 121">
            <a:extLst>
              <a:ext uri="{FF2B5EF4-FFF2-40B4-BE49-F238E27FC236}">
                <a16:creationId xmlns:a16="http://schemas.microsoft.com/office/drawing/2014/main" id="{FAA20D85-E90A-C772-6F0D-EA42C20E4C57}"/>
              </a:ext>
            </a:extLst>
          </p:cNvPr>
          <p:cNvCxnSpPr>
            <a:cxnSpLocks/>
            <a:stCxn id="117" idx="2"/>
            <a:endCxn id="118" idx="0"/>
          </p:cNvCxnSpPr>
          <p:nvPr/>
        </p:nvCxnSpPr>
        <p:spPr>
          <a:xfrm>
            <a:off x="8763801" y="3254778"/>
            <a:ext cx="0" cy="2596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Arrow Connector 122">
            <a:extLst>
              <a:ext uri="{FF2B5EF4-FFF2-40B4-BE49-F238E27FC236}">
                <a16:creationId xmlns:a16="http://schemas.microsoft.com/office/drawing/2014/main" id="{D98E711C-8B54-1526-1A19-2DEECC4B32B3}"/>
              </a:ext>
            </a:extLst>
          </p:cNvPr>
          <p:cNvCxnSpPr>
            <a:cxnSpLocks/>
            <a:stCxn id="118" idx="2"/>
          </p:cNvCxnSpPr>
          <p:nvPr/>
        </p:nvCxnSpPr>
        <p:spPr>
          <a:xfrm>
            <a:off x="8763801" y="4155625"/>
            <a:ext cx="1524" cy="1653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Straight Arrow Connector 141">
            <a:extLst>
              <a:ext uri="{FF2B5EF4-FFF2-40B4-BE49-F238E27FC236}">
                <a16:creationId xmlns:a16="http://schemas.microsoft.com/office/drawing/2014/main" id="{AC30AAB6-ADCA-EC5D-347B-E30BBBC95A4D}"/>
              </a:ext>
            </a:extLst>
          </p:cNvPr>
          <p:cNvCxnSpPr>
            <a:cxnSpLocks/>
          </p:cNvCxnSpPr>
          <p:nvPr/>
        </p:nvCxnSpPr>
        <p:spPr>
          <a:xfrm>
            <a:off x="4546893" y="3475412"/>
            <a:ext cx="75322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0" name="Rectangle 149">
            <a:extLst>
              <a:ext uri="{FF2B5EF4-FFF2-40B4-BE49-F238E27FC236}">
                <a16:creationId xmlns:a16="http://schemas.microsoft.com/office/drawing/2014/main" id="{117D65EB-AFA3-D8AB-0E38-5DDE60EDD2B0}"/>
              </a:ext>
            </a:extLst>
          </p:cNvPr>
          <p:cNvSpPr/>
          <p:nvPr/>
        </p:nvSpPr>
        <p:spPr>
          <a:xfrm>
            <a:off x="10533537" y="2975541"/>
            <a:ext cx="1426464" cy="118008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b="1" dirty="0"/>
              <a:t>Output</a:t>
            </a:r>
          </a:p>
          <a:p>
            <a:pPr algn="ctr"/>
            <a:endParaRPr lang="en-US" sz="1400" b="1" dirty="0"/>
          </a:p>
          <a:p>
            <a:pPr algn="ctr"/>
            <a:r>
              <a:rPr lang="en-US" sz="1100" dirty="0"/>
              <a:t>Trained GAT Saliency heatmaps ROI masks</a:t>
            </a:r>
          </a:p>
        </p:txBody>
      </p:sp>
      <p:cxnSp>
        <p:nvCxnSpPr>
          <p:cNvPr id="151" name="Straight Arrow Connector 150">
            <a:extLst>
              <a:ext uri="{FF2B5EF4-FFF2-40B4-BE49-F238E27FC236}">
                <a16:creationId xmlns:a16="http://schemas.microsoft.com/office/drawing/2014/main" id="{5E544361-BE79-2DF8-2271-773282096E7C}"/>
              </a:ext>
            </a:extLst>
          </p:cNvPr>
          <p:cNvCxnSpPr>
            <a:cxnSpLocks/>
            <a:endCxn id="150" idx="1"/>
          </p:cNvCxnSpPr>
          <p:nvPr/>
        </p:nvCxnSpPr>
        <p:spPr>
          <a:xfrm>
            <a:off x="9983289" y="3565583"/>
            <a:ext cx="55024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341985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 b="1" dirty="0"/>
        </a:defPPr>
      </a:lstStyle>
      <a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411</TotalTime>
  <Words>254</Words>
  <Application>Microsoft Office PowerPoint</Application>
  <PresentationFormat>Widescreen</PresentationFormat>
  <Paragraphs>63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Fathollahian, Hossein</dc:creator>
  <cp:lastModifiedBy>Fathollahian, Hossein</cp:lastModifiedBy>
  <cp:revision>6</cp:revision>
  <dcterms:created xsi:type="dcterms:W3CDTF">2026-01-12T00:12:01Z</dcterms:created>
  <dcterms:modified xsi:type="dcterms:W3CDTF">2026-01-13T22:34:47Z</dcterms:modified>
</cp:coreProperties>
</file>